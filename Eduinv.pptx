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sldIdLst>
    <p:sldId id="256" r:id="rId2"/>
    <p:sldId id="257" r:id="rId3"/>
    <p:sldId id="258" r:id="rId4"/>
    <p:sldId id="259" r:id="rId5"/>
    <p:sldId id="260" r:id="rId6"/>
    <p:sldId id="266" r:id="rId7"/>
    <p:sldId id="267" r:id="rId8"/>
    <p:sldId id="268" r:id="rId9"/>
    <p:sldId id="269" r:id="rId10"/>
    <p:sldId id="265" r:id="rId11"/>
    <p:sldId id="262" r:id="rId12"/>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226"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rgbClr val="262626"/>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11017193-CD6B-469F-878F-9344CF1D3791}" type="datetimeFigureOut">
              <a:rPr lang="en-IN" smtClean="0"/>
              <a:t>28-10-2024</a:t>
            </a:fld>
            <a:endParaRPr lang="en-IN"/>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C4BB8866-647B-425F-951B-CA48E12CC72A}" type="slidenum">
              <a:rPr lang="en-IN" smtClean="0"/>
              <a:t>‹#›</a:t>
            </a:fld>
            <a:endParaRPr lang="en-IN"/>
          </a:p>
        </p:txBody>
      </p:sp>
    </p:spTree>
    <p:extLst>
      <p:ext uri="{BB962C8B-B14F-4D97-AF65-F5344CB8AC3E}">
        <p14:creationId xmlns:p14="http://schemas.microsoft.com/office/powerpoint/2010/main" val="3169101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017193-CD6B-469F-878F-9344CF1D3791}"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B8866-647B-425F-951B-CA48E12CC72A}" type="slidenum">
              <a:rPr lang="en-IN" smtClean="0"/>
              <a:t>‹#›</a:t>
            </a:fld>
            <a:endParaRPr lang="en-IN"/>
          </a:p>
        </p:txBody>
      </p:sp>
    </p:spTree>
    <p:extLst>
      <p:ext uri="{BB962C8B-B14F-4D97-AF65-F5344CB8AC3E}">
        <p14:creationId xmlns:p14="http://schemas.microsoft.com/office/powerpoint/2010/main" val="3327180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017193-CD6B-469F-878F-9344CF1D3791}"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B8866-647B-425F-951B-CA48E12CC72A}" type="slidenum">
              <a:rPr lang="en-IN" smtClean="0"/>
              <a:t>‹#›</a:t>
            </a:fld>
            <a:endParaRPr lang="en-IN"/>
          </a:p>
        </p:txBody>
      </p:sp>
    </p:spTree>
    <p:extLst>
      <p:ext uri="{BB962C8B-B14F-4D97-AF65-F5344CB8AC3E}">
        <p14:creationId xmlns:p14="http://schemas.microsoft.com/office/powerpoint/2010/main" val="109483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017193-CD6B-469F-878F-9344CF1D3791}" type="datetimeFigureOut">
              <a:rPr lang="en-IN" smtClean="0"/>
              <a:t>28-10-2024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BB8866-647B-425F-951B-CA48E12CC72A}" type="slidenum">
              <a:rPr lang="en-IN" smtClean="0"/>
              <a:t>‹#›</a:t>
            </a:fld>
            <a:endParaRPr lang="en-IN"/>
          </a:p>
        </p:txBody>
      </p:sp>
    </p:spTree>
    <p:extLst>
      <p:ext uri="{BB962C8B-B14F-4D97-AF65-F5344CB8AC3E}">
        <p14:creationId xmlns:p14="http://schemas.microsoft.com/office/powerpoint/2010/main" val="32313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017193-CD6B-469F-878F-9344CF1D3791}" type="datetimeFigureOut">
              <a:rPr lang="en-IN" smtClean="0"/>
              <a:t>28-10-2024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BB8866-647B-425F-951B-CA48E12CC72A}" type="slidenum">
              <a:rPr lang="en-IN" smtClean="0"/>
              <a:t>‹#›</a:t>
            </a:fld>
            <a:endParaRPr lang="en-IN"/>
          </a:p>
        </p:txBody>
      </p:sp>
    </p:spTree>
    <p:extLst>
      <p:ext uri="{BB962C8B-B14F-4D97-AF65-F5344CB8AC3E}">
        <p14:creationId xmlns:p14="http://schemas.microsoft.com/office/powerpoint/2010/main" val="2449289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017193-CD6B-469F-878F-9344CF1D3791}" type="datetimeFigureOut">
              <a:rPr lang="en-IN" smtClean="0"/>
              <a:t>28-10-2024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BB8866-647B-425F-951B-CA48E12CC72A}" type="slidenum">
              <a:rPr lang="en-IN" smtClean="0"/>
              <a:t>‹#›</a:t>
            </a:fld>
            <a:endParaRPr lang="en-IN"/>
          </a:p>
        </p:txBody>
      </p:sp>
    </p:spTree>
    <p:extLst>
      <p:ext uri="{BB962C8B-B14F-4D97-AF65-F5344CB8AC3E}">
        <p14:creationId xmlns:p14="http://schemas.microsoft.com/office/powerpoint/2010/main" val="1243920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017193-CD6B-469F-878F-9344CF1D3791}" type="datetimeFigureOut">
              <a:rPr lang="en-IN" smtClean="0"/>
              <a:t>28-10-2024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BB8866-647B-425F-951B-CA48E12CC72A}" type="slidenum">
              <a:rPr lang="en-IN" smtClean="0"/>
              <a:t>‹#›</a:t>
            </a:fld>
            <a:endParaRPr lang="en-IN"/>
          </a:p>
        </p:txBody>
      </p:sp>
    </p:spTree>
    <p:extLst>
      <p:ext uri="{BB962C8B-B14F-4D97-AF65-F5344CB8AC3E}">
        <p14:creationId xmlns:p14="http://schemas.microsoft.com/office/powerpoint/2010/main" val="290981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11017193-CD6B-469F-878F-9344CF1D3791}" type="datetimeFigureOut">
              <a:rPr lang="en-IN" smtClean="0"/>
              <a:t>28-10-2024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C4BB8866-647B-425F-951B-CA48E12CC72A}" type="slidenum">
              <a:rPr lang="en-IN" smtClean="0"/>
              <a:t>‹#›</a:t>
            </a:fld>
            <a:endParaRPr lang="en-IN"/>
          </a:p>
        </p:txBody>
      </p:sp>
    </p:spTree>
    <p:extLst>
      <p:ext uri="{BB962C8B-B14F-4D97-AF65-F5344CB8AC3E}">
        <p14:creationId xmlns:p14="http://schemas.microsoft.com/office/powerpoint/2010/main" val="212379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20000"/>
              <a:lumOff val="8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11017193-CD6B-469F-878F-9344CF1D3791}" type="datetimeFigureOut">
              <a:rPr lang="en-IN" smtClean="0"/>
              <a:t>28-10-2024</a:t>
            </a:fld>
            <a:endParaRPr lang="en-IN"/>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C4BB8866-647B-425F-951B-CA48E12CC72A}" type="slidenum">
              <a:rPr lang="en-IN" smtClean="0"/>
              <a:t>‹#›</a:t>
            </a:fld>
            <a:endParaRPr lang="en-IN"/>
          </a:p>
        </p:txBody>
      </p:sp>
    </p:spTree>
    <p:extLst>
      <p:ext uri="{BB962C8B-B14F-4D97-AF65-F5344CB8AC3E}">
        <p14:creationId xmlns:p14="http://schemas.microsoft.com/office/powerpoint/2010/main" val="339718079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017193-CD6B-469F-878F-9344CF1D3791}"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B8866-647B-425F-951B-CA48E12CC72A}" type="slidenum">
              <a:rPr lang="en-IN" smtClean="0"/>
              <a:t>‹#›</a:t>
            </a:fld>
            <a:endParaRPr lang="en-IN"/>
          </a:p>
        </p:txBody>
      </p:sp>
    </p:spTree>
    <p:extLst>
      <p:ext uri="{BB962C8B-B14F-4D97-AF65-F5344CB8AC3E}">
        <p14:creationId xmlns:p14="http://schemas.microsoft.com/office/powerpoint/2010/main" val="91181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017193-CD6B-469F-878F-9344CF1D3791}"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B8866-647B-425F-951B-CA48E12CC72A}" type="slidenum">
              <a:rPr lang="en-IN" smtClean="0"/>
              <a:t>‹#›</a:t>
            </a:fld>
            <a:endParaRPr lang="en-IN"/>
          </a:p>
        </p:txBody>
      </p:sp>
    </p:spTree>
    <p:extLst>
      <p:ext uri="{BB962C8B-B14F-4D97-AF65-F5344CB8AC3E}">
        <p14:creationId xmlns:p14="http://schemas.microsoft.com/office/powerpoint/2010/main" val="2174377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11017193-CD6B-469F-878F-9344CF1D3791}" type="datetimeFigureOut">
              <a:rPr lang="en-IN" smtClean="0"/>
              <a:t>28-10-2024</a:t>
            </a:fld>
            <a:endParaRPr lang="en-IN"/>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IN"/>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C4BB8866-647B-425F-951B-CA48E12CC72A}" type="slidenum">
              <a:rPr lang="en-IN" smtClean="0"/>
              <a:t>‹#›</a:t>
            </a:fld>
            <a:endParaRPr lang="en-IN"/>
          </a:p>
        </p:txBody>
      </p:sp>
    </p:spTree>
    <p:extLst>
      <p:ext uri="{BB962C8B-B14F-4D97-AF65-F5344CB8AC3E}">
        <p14:creationId xmlns:p14="http://schemas.microsoft.com/office/powerpoint/2010/main" val="1091895465"/>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aws.amazon.com/django/" TargetMode="External"/><Relationship Id="rId3" Type="http://schemas.openxmlformats.org/officeDocument/2006/relationships/hyperlink" Target="https://prodigyfinance.com/" TargetMode="External"/><Relationship Id="rId7" Type="http://schemas.openxmlformats.org/officeDocument/2006/relationships/hyperlink" Target="https://www.commonbond.co/" TargetMode="External"/><Relationship Id="rId2" Type="http://schemas.openxmlformats.org/officeDocument/2006/relationships/hyperlink" Target="https://docs.djangoproject.com/" TargetMode="External"/><Relationship Id="rId1" Type="http://schemas.openxmlformats.org/officeDocument/2006/relationships/slideLayout" Target="../slideLayouts/slideLayout2.xml"/><Relationship Id="rId6" Type="http://schemas.openxmlformats.org/officeDocument/2006/relationships/hyperlink" Target="https://www.upstart.com/" TargetMode="External"/><Relationship Id="rId5" Type="http://schemas.openxmlformats.org/officeDocument/2006/relationships/hyperlink" Target="https://www.fundingcircle.com/" TargetMode="External"/><Relationship Id="rId4" Type="http://schemas.openxmlformats.org/officeDocument/2006/relationships/hyperlink" Target="https://www.kiva.org/" TargetMode="External"/><Relationship Id="rId9" Type="http://schemas.openxmlformats.org/officeDocument/2006/relationships/hyperlink" Target="https://djangopackages.or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637E9-BDD3-C4ED-9250-02A8882DDA41}"/>
              </a:ext>
            </a:extLst>
          </p:cNvPr>
          <p:cNvSpPr>
            <a:spLocks noGrp="1"/>
          </p:cNvSpPr>
          <p:nvPr>
            <p:ph type="ctrTitle"/>
          </p:nvPr>
        </p:nvSpPr>
        <p:spPr>
          <a:xfrm>
            <a:off x="1524000" y="1143349"/>
            <a:ext cx="9144000" cy="1655762"/>
          </a:xfrm>
        </p:spPr>
        <p:txBody>
          <a:bodyPr/>
          <a:lstStyle/>
          <a:p>
            <a:r>
              <a:rPr lang="en-US" dirty="0">
                <a:latin typeface="Bauhaus 93" panose="04030905020B02020C02" pitchFamily="82" charset="0"/>
              </a:rPr>
              <a:t>Edu.Inv</a:t>
            </a:r>
            <a:endParaRPr lang="en-IN" dirty="0">
              <a:latin typeface="Bauhaus 93" panose="04030905020B02020C02" pitchFamily="82" charset="0"/>
            </a:endParaRPr>
          </a:p>
        </p:txBody>
      </p:sp>
      <p:sp>
        <p:nvSpPr>
          <p:cNvPr id="3" name="Subtitle 2">
            <a:extLst>
              <a:ext uri="{FF2B5EF4-FFF2-40B4-BE49-F238E27FC236}">
                <a16:creationId xmlns:a16="http://schemas.microsoft.com/office/drawing/2014/main" id="{16D16A15-0034-736C-14E2-F88667DCF9F9}"/>
              </a:ext>
            </a:extLst>
          </p:cNvPr>
          <p:cNvSpPr>
            <a:spLocks noGrp="1"/>
          </p:cNvSpPr>
          <p:nvPr>
            <p:ph type="subTitle" idx="1"/>
          </p:nvPr>
        </p:nvSpPr>
        <p:spPr>
          <a:xfrm>
            <a:off x="1524000" y="2964180"/>
            <a:ext cx="9326880" cy="929640"/>
          </a:xfrm>
        </p:spPr>
        <p:txBody>
          <a:bodyPr>
            <a:normAutofit/>
          </a:bodyPr>
          <a:lstStyle/>
          <a:p>
            <a:r>
              <a:rPr lang="en-US" sz="2800" dirty="0">
                <a:latin typeface="Century Gothic" panose="020B0502020202020204" pitchFamily="34" charset="0"/>
              </a:rPr>
              <a:t>Inspiring Education Through Investment</a:t>
            </a:r>
            <a:endParaRPr lang="en-IN" sz="2800" dirty="0">
              <a:latin typeface="Century Gothic" panose="020B0502020202020204" pitchFamily="34" charset="0"/>
            </a:endParaRPr>
          </a:p>
        </p:txBody>
      </p:sp>
      <p:sp>
        <p:nvSpPr>
          <p:cNvPr id="6" name="TextBox 5">
            <a:extLst>
              <a:ext uri="{FF2B5EF4-FFF2-40B4-BE49-F238E27FC236}">
                <a16:creationId xmlns:a16="http://schemas.microsoft.com/office/drawing/2014/main" id="{F664DA6D-E674-37AC-4047-37A7C16BEAF7}"/>
              </a:ext>
            </a:extLst>
          </p:cNvPr>
          <p:cNvSpPr txBox="1"/>
          <p:nvPr/>
        </p:nvSpPr>
        <p:spPr>
          <a:xfrm>
            <a:off x="53009" y="5786763"/>
            <a:ext cx="2941982" cy="369332"/>
          </a:xfrm>
          <a:prstGeom prst="rect">
            <a:avLst/>
          </a:prstGeom>
          <a:noFill/>
        </p:spPr>
        <p:txBody>
          <a:bodyPr wrap="square" rtlCol="0">
            <a:spAutoFit/>
          </a:bodyPr>
          <a:lstStyle/>
          <a:p>
            <a:pPr algn="ctr"/>
            <a:r>
              <a:rPr lang="en-US" dirty="0">
                <a:solidFill>
                  <a:schemeClr val="bg1">
                    <a:lumMod val="95000"/>
                  </a:schemeClr>
                </a:solidFill>
                <a:latin typeface="Bahnschrift SemiBold" panose="020B0502040204020203" pitchFamily="34" charset="0"/>
              </a:rPr>
              <a:t>GUIDE :  SUKRITH LAL</a:t>
            </a:r>
            <a:endParaRPr lang="en-IN" dirty="0">
              <a:solidFill>
                <a:schemeClr val="bg1">
                  <a:lumMod val="95000"/>
                </a:schemeClr>
              </a:solidFill>
              <a:latin typeface="Bahnschrift SemiBold" panose="020B0502040204020203" pitchFamily="34" charset="0"/>
            </a:endParaRPr>
          </a:p>
        </p:txBody>
      </p:sp>
      <p:sp>
        <p:nvSpPr>
          <p:cNvPr id="7" name="TextBox 6">
            <a:extLst>
              <a:ext uri="{FF2B5EF4-FFF2-40B4-BE49-F238E27FC236}">
                <a16:creationId xmlns:a16="http://schemas.microsoft.com/office/drawing/2014/main" id="{77E774BB-8BA2-5D80-C154-7AC311EBDE18}"/>
              </a:ext>
            </a:extLst>
          </p:cNvPr>
          <p:cNvSpPr txBox="1"/>
          <p:nvPr/>
        </p:nvSpPr>
        <p:spPr>
          <a:xfrm>
            <a:off x="9519037" y="5786763"/>
            <a:ext cx="2297926" cy="369332"/>
          </a:xfrm>
          <a:prstGeom prst="rect">
            <a:avLst/>
          </a:prstGeom>
          <a:noFill/>
        </p:spPr>
        <p:txBody>
          <a:bodyPr wrap="square" rtlCol="0">
            <a:spAutoFit/>
          </a:bodyPr>
          <a:lstStyle/>
          <a:p>
            <a:pPr algn="ctr"/>
            <a:r>
              <a:rPr lang="en-US" dirty="0">
                <a:solidFill>
                  <a:schemeClr val="bg1">
                    <a:lumMod val="95000"/>
                  </a:schemeClr>
                </a:solidFill>
                <a:latin typeface="Bahnschrift SemiBold" panose="020B0502040204020203" pitchFamily="34" charset="0"/>
              </a:rPr>
              <a:t>ALWIN K G</a:t>
            </a:r>
            <a:endParaRPr lang="en-IN" dirty="0">
              <a:solidFill>
                <a:schemeClr val="bg1">
                  <a:lumMod val="95000"/>
                </a:schemeClr>
              </a:solidFill>
              <a:latin typeface="Bahnschrift SemiBold" panose="020B0502040204020203" pitchFamily="34" charset="0"/>
            </a:endParaRPr>
          </a:p>
        </p:txBody>
      </p:sp>
    </p:spTree>
    <p:extLst>
      <p:ext uri="{BB962C8B-B14F-4D97-AF65-F5344CB8AC3E}">
        <p14:creationId xmlns:p14="http://schemas.microsoft.com/office/powerpoint/2010/main" val="4090785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8F58-9B73-ED93-6607-0E5D057BCFAC}"/>
              </a:ext>
            </a:extLst>
          </p:cNvPr>
          <p:cNvSpPr>
            <a:spLocks noGrp="1"/>
          </p:cNvSpPr>
          <p:nvPr>
            <p:ph type="title"/>
          </p:nvPr>
        </p:nvSpPr>
        <p:spPr>
          <a:xfrm>
            <a:off x="690561" y="527455"/>
            <a:ext cx="10772775" cy="638746"/>
          </a:xfrm>
        </p:spPr>
        <p:txBody>
          <a:bodyPr>
            <a:noAutofit/>
          </a:bodyPr>
          <a:lstStyle/>
          <a:p>
            <a:r>
              <a:rPr lang="en-US" sz="3200" dirty="0">
                <a:latin typeface="Bahnschrift SemiBold" panose="020B0502040204020203" pitchFamily="34" charset="0"/>
              </a:rPr>
              <a:t>INTRODUCTION</a:t>
            </a:r>
            <a:endParaRPr lang="en-IN" sz="3200" dirty="0">
              <a:latin typeface="Bahnschrift SemiBold" panose="020B0502040204020203" pitchFamily="34" charset="0"/>
            </a:endParaRPr>
          </a:p>
        </p:txBody>
      </p:sp>
      <p:sp>
        <p:nvSpPr>
          <p:cNvPr id="3" name="Content Placeholder 2">
            <a:extLst>
              <a:ext uri="{FF2B5EF4-FFF2-40B4-BE49-F238E27FC236}">
                <a16:creationId xmlns:a16="http://schemas.microsoft.com/office/drawing/2014/main" id="{9AB3AA3C-B2F5-7661-A768-AD14F3A513B2}"/>
              </a:ext>
            </a:extLst>
          </p:cNvPr>
          <p:cNvSpPr>
            <a:spLocks noGrp="1"/>
          </p:cNvSpPr>
          <p:nvPr>
            <p:ph idx="1"/>
          </p:nvPr>
        </p:nvSpPr>
        <p:spPr>
          <a:xfrm>
            <a:off x="700085" y="1334425"/>
            <a:ext cx="10753725" cy="5099031"/>
          </a:xfrm>
        </p:spPr>
        <p:txBody>
          <a:bodyPr>
            <a:normAutofit/>
          </a:bodyPr>
          <a:lstStyle/>
          <a:p>
            <a:r>
              <a:rPr lang="en-US" sz="1600" dirty="0">
                <a:latin typeface="Bahnschrift SemiLight SemiConde" panose="020B0502040204020203" pitchFamily="34" charset="0"/>
              </a:rPr>
              <a:t>The project is an educational loan platform developed using Python Django, aimed at supporting highly talented, financially underprivileged, and well-deserving candidates. This platform not only connects students in need of financial assistance with potential sources of funding but also incorporates a unique feature: the Investor Page.</a:t>
            </a:r>
          </a:p>
          <a:p>
            <a:r>
              <a:rPr lang="en-US" sz="1600" dirty="0">
                <a:latin typeface="Bahnschrift SemiLight SemiConde" panose="020B0502040204020203" pitchFamily="34" charset="0"/>
              </a:rPr>
              <a:t>The Investor Page allows individuals to invest in the education of registered candidates, providing them with the necessary funds to pursue their studies. Investors benefit in several ways:</a:t>
            </a:r>
          </a:p>
          <a:p>
            <a:pPr>
              <a:buFont typeface="Arial" panose="020B0604020202020204" pitchFamily="34" charset="0"/>
              <a:buChar char="•"/>
            </a:pPr>
            <a:r>
              <a:rPr lang="en-US" sz="1600" b="1" dirty="0">
                <a:latin typeface="Bahnschrift SemiLight SemiConde" panose="020B0502040204020203" pitchFamily="34" charset="0"/>
              </a:rPr>
              <a:t>  Source of Income : </a:t>
            </a:r>
            <a:r>
              <a:rPr lang="en-US" sz="1600" dirty="0">
                <a:latin typeface="Bahnschrift SemiLight SemiConde" panose="020B0502040204020203" pitchFamily="34" charset="0"/>
              </a:rPr>
              <a:t>By lending money at an average interest rate, investors can earn a steady income.</a:t>
            </a:r>
          </a:p>
          <a:p>
            <a:pPr>
              <a:buFont typeface="Arial" panose="020B0604020202020204" pitchFamily="34" charset="0"/>
              <a:buChar char="•"/>
            </a:pPr>
            <a:r>
              <a:rPr lang="en-US" sz="1600" b="1" dirty="0">
                <a:latin typeface="Bahnschrift SemiLight SemiConde" panose="020B0502040204020203" pitchFamily="34" charset="0"/>
              </a:rPr>
              <a:t>  Positive Public Exposure : </a:t>
            </a:r>
            <a:r>
              <a:rPr lang="en-US" sz="1600" dirty="0">
                <a:latin typeface="Bahnschrift SemiLight SemiConde" panose="020B0502040204020203" pitchFamily="34" charset="0"/>
              </a:rPr>
              <a:t>Participation in this program enhances the investor's public image as a benefactor of education and </a:t>
            </a:r>
          </a:p>
          <a:p>
            <a:pPr marL="0" indent="0">
              <a:buNone/>
            </a:pPr>
            <a:r>
              <a:rPr lang="en-US" sz="1600" dirty="0">
                <a:latin typeface="Bahnschrift SemiLight SemiConde" panose="020B0502040204020203" pitchFamily="34" charset="0"/>
              </a:rPr>
              <a:t>    supporter of future leaders</a:t>
            </a:r>
            <a:endParaRPr lang="en-US" sz="1600" b="1" dirty="0">
              <a:latin typeface="Bahnschrift SemiLight SemiConde" panose="020B0502040204020203" pitchFamily="34" charset="0"/>
            </a:endParaRPr>
          </a:p>
          <a:p>
            <a:pPr>
              <a:buFont typeface="Arial" panose="020B0604020202020204" pitchFamily="34" charset="0"/>
              <a:buChar char="•"/>
            </a:pPr>
            <a:r>
              <a:rPr lang="en-US" sz="1600" b="1" dirty="0">
                <a:latin typeface="Bahnschrift SemiLight SemiConde" panose="020B0502040204020203" pitchFamily="34" charset="0"/>
              </a:rPr>
              <a:t>  Charity : </a:t>
            </a:r>
            <a:r>
              <a:rPr lang="en-US" sz="1600" dirty="0">
                <a:latin typeface="Bahnschrift SemiLight SemiConde" panose="020B0502040204020203" pitchFamily="34" charset="0"/>
              </a:rPr>
              <a:t>Investors contribute to a noble cause, supporting the education of deserving students who might otherwise lack the means </a:t>
            </a:r>
          </a:p>
          <a:p>
            <a:pPr marL="0" indent="0">
              <a:buNone/>
            </a:pPr>
            <a:r>
              <a:rPr lang="en-US" sz="1600" dirty="0">
                <a:latin typeface="Bahnschrift SemiLight SemiConde" panose="020B0502040204020203" pitchFamily="34" charset="0"/>
              </a:rPr>
              <a:t>    to achieve their academic goals.</a:t>
            </a:r>
          </a:p>
          <a:p>
            <a:pPr marL="0" indent="0">
              <a:buNone/>
            </a:pPr>
            <a:r>
              <a:rPr lang="en-US" sz="1600" dirty="0">
                <a:latin typeface="Bahnschrift SemiLight SemiConde" panose="020B0502040204020203" pitchFamily="34" charset="0"/>
              </a:rPr>
              <a:t>Overall, this project bridges the gap between financially challenged students and philanthropic investors, fostering an environment of mutual benefit and societal growth. The educational loan platform not only alleviates the financial burden of students but also provides investors with an opportunity to make a meaningful impact while receiving a return on their investment.</a:t>
            </a:r>
          </a:p>
        </p:txBody>
      </p:sp>
      <p:sp>
        <p:nvSpPr>
          <p:cNvPr id="4" name="Rectangle 1">
            <a:extLst>
              <a:ext uri="{FF2B5EF4-FFF2-40B4-BE49-F238E27FC236}">
                <a16:creationId xmlns:a16="http://schemas.microsoft.com/office/drawing/2014/main" id="{4504E798-BDC0-6F9C-EB7D-B69C71655B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Source of Income</a:t>
            </a:r>
            <a:r>
              <a:rPr kumimoji="0" lang="en-US" altLang="en-US" sz="1800" b="0" i="0" u="none" strike="noStrike" cap="none" normalizeH="0" baseline="0">
                <a:ln>
                  <a:noFill/>
                </a:ln>
                <a:solidFill>
                  <a:schemeClr val="tx1"/>
                </a:solidFill>
                <a:effectLst/>
                <a:latin typeface="Arial" panose="020B0604020202020204" pitchFamily="34" charset="0"/>
              </a:rPr>
              <a:t>: By lending money at an average interest rate, investors can earn a steady income.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FA908377-EC37-ACA4-62C8-C4E1FC795D76}"/>
              </a:ext>
            </a:extLst>
          </p:cNvPr>
          <p:cNvSpPr>
            <a:spLocks noChangeArrowheads="1"/>
          </p:cNvSpPr>
          <p:nvPr/>
        </p:nvSpPr>
        <p:spPr bwMode="auto">
          <a:xfrm>
            <a:off x="152400" y="-1707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5617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8C802-5CE2-4216-0A76-DDB7A9019598}"/>
              </a:ext>
            </a:extLst>
          </p:cNvPr>
          <p:cNvSpPr>
            <a:spLocks noGrp="1"/>
          </p:cNvSpPr>
          <p:nvPr>
            <p:ph type="title"/>
          </p:nvPr>
        </p:nvSpPr>
        <p:spPr>
          <a:xfrm>
            <a:off x="705612" y="512960"/>
            <a:ext cx="10780776" cy="616125"/>
          </a:xfrm>
        </p:spPr>
        <p:txBody>
          <a:bodyPr>
            <a:normAutofit/>
          </a:bodyPr>
          <a:lstStyle/>
          <a:p>
            <a:r>
              <a:rPr lang="en-US" sz="3200" dirty="0">
                <a:latin typeface="Bahnschrift SemiBold" panose="020B0502040204020203" pitchFamily="34" charset="0"/>
              </a:rPr>
              <a:t>Existence System</a:t>
            </a:r>
            <a:endParaRPr lang="en-IN" sz="3200" dirty="0">
              <a:latin typeface="Bahnschrift SemiBold" panose="020B0502040204020203" pitchFamily="34" charset="0"/>
            </a:endParaRPr>
          </a:p>
        </p:txBody>
      </p:sp>
      <p:sp>
        <p:nvSpPr>
          <p:cNvPr id="3" name="Text Placeholder 2">
            <a:extLst>
              <a:ext uri="{FF2B5EF4-FFF2-40B4-BE49-F238E27FC236}">
                <a16:creationId xmlns:a16="http://schemas.microsoft.com/office/drawing/2014/main" id="{D765F49A-A04B-9D7E-9CD1-B2D9C122756B}"/>
              </a:ext>
            </a:extLst>
          </p:cNvPr>
          <p:cNvSpPr>
            <a:spLocks noGrp="1"/>
          </p:cNvSpPr>
          <p:nvPr>
            <p:ph type="body" idx="1"/>
          </p:nvPr>
        </p:nvSpPr>
        <p:spPr>
          <a:xfrm>
            <a:off x="705613" y="1733384"/>
            <a:ext cx="10871486" cy="4993419"/>
          </a:xfrm>
        </p:spPr>
        <p:txBody>
          <a:bodyPr>
            <a:noAutofit/>
          </a:bodyPr>
          <a:lstStyle/>
          <a:p>
            <a:pPr marL="228600" indent="-228600">
              <a:buAutoNum type="arabicPeriod"/>
            </a:pPr>
            <a:r>
              <a:rPr lang="en-US" sz="2400" b="1" dirty="0">
                <a:latin typeface="Bahnschrift SemiLight SemiConde" panose="020B0502040204020203" pitchFamily="34" charset="0"/>
              </a:rPr>
              <a:t>Prodigy Finance</a:t>
            </a:r>
            <a:r>
              <a:rPr lang="en-US" sz="2400" dirty="0">
                <a:latin typeface="Bahnschrift SemiLight SemiConde" panose="020B0502040204020203" pitchFamily="34" charset="0"/>
              </a:rPr>
              <a:t> :  Prodigy Finance offers loans to international postgraduate students attending top universities. The funds for these loans come from a community of alumni and institutional investors who earn financial returns while supporting education.</a:t>
            </a:r>
          </a:p>
          <a:p>
            <a:pPr marL="228600" indent="-228600">
              <a:buAutoNum type="arabicPeriod" startAt="2"/>
            </a:pPr>
            <a:r>
              <a:rPr lang="en-US" sz="2400" b="1" dirty="0">
                <a:latin typeface="Bahnschrift SemiLight SemiConde" panose="020B0502040204020203" pitchFamily="34" charset="0"/>
              </a:rPr>
              <a:t>Kiva</a:t>
            </a:r>
            <a:r>
              <a:rPr lang="en-US" sz="2400" dirty="0">
                <a:latin typeface="Bahnschrift SemiLight SemiConde" panose="020B0502040204020203" pitchFamily="34" charset="0"/>
              </a:rPr>
              <a:t>: Kiva is a micro-lending platform that allows individuals to lend money to low-income entrepreneurs and students around the world. While not solely focused on education, it does include educational loans as part of its offerings.</a:t>
            </a:r>
          </a:p>
          <a:p>
            <a:pPr marL="228600" indent="-228600">
              <a:buAutoNum type="arabicPeriod" startAt="3"/>
            </a:pPr>
            <a:r>
              <a:rPr lang="en-US" sz="2400" b="1" dirty="0">
                <a:latin typeface="Bahnschrift SemiLight SemiConde" panose="020B0502040204020203" pitchFamily="34" charset="0"/>
              </a:rPr>
              <a:t>Funding</a:t>
            </a:r>
            <a:r>
              <a:rPr lang="en-US" sz="2400" dirty="0">
                <a:latin typeface="Bahnschrift SemiLight SemiConde" panose="020B0502040204020203" pitchFamily="34" charset="0"/>
              </a:rPr>
              <a:t> </a:t>
            </a:r>
            <a:r>
              <a:rPr lang="en-US" sz="2400" b="1" dirty="0">
                <a:latin typeface="Bahnschrift SemiLight SemiConde" panose="020B0502040204020203" pitchFamily="34" charset="0"/>
              </a:rPr>
              <a:t>Circle</a:t>
            </a:r>
            <a:r>
              <a:rPr lang="en-US" sz="2400" dirty="0">
                <a:latin typeface="Bahnschrift SemiLight SemiConde" panose="020B0502040204020203" pitchFamily="34" charset="0"/>
              </a:rPr>
              <a:t>: Although not specifically for education, Funding Circle connects small businesses with investors who provide loans in exchange for interest. The concept is similar in that it connects those in need of funds with those looking to invest.</a:t>
            </a:r>
          </a:p>
          <a:p>
            <a:endParaRPr lang="en-US" sz="1600" dirty="0">
              <a:latin typeface="Bahnschrift SemiLight SemiConde" panose="020B0502040204020203" pitchFamily="34" charset="0"/>
            </a:endParaRPr>
          </a:p>
        </p:txBody>
      </p:sp>
    </p:spTree>
    <p:extLst>
      <p:ext uri="{BB962C8B-B14F-4D97-AF65-F5344CB8AC3E}">
        <p14:creationId xmlns:p14="http://schemas.microsoft.com/office/powerpoint/2010/main" val="2537969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48B92-9DBA-4A9D-1B64-57FFA3989A31}"/>
              </a:ext>
            </a:extLst>
          </p:cNvPr>
          <p:cNvSpPr>
            <a:spLocks noGrp="1"/>
          </p:cNvSpPr>
          <p:nvPr>
            <p:ph type="title"/>
          </p:nvPr>
        </p:nvSpPr>
        <p:spPr>
          <a:xfrm>
            <a:off x="705612" y="552734"/>
            <a:ext cx="10780776" cy="568399"/>
          </a:xfrm>
        </p:spPr>
        <p:txBody>
          <a:bodyPr>
            <a:normAutofit/>
          </a:bodyPr>
          <a:lstStyle/>
          <a:p>
            <a:r>
              <a:rPr lang="en-US" sz="3200" dirty="0">
                <a:latin typeface="Bahnschrift SemiBold" panose="020B0502040204020203" pitchFamily="34" charset="0"/>
              </a:rPr>
              <a:t>Proposed System</a:t>
            </a:r>
            <a:endParaRPr lang="en-IN" sz="3200" dirty="0">
              <a:latin typeface="Bahnschrift SemiBold" panose="020B0502040204020203" pitchFamily="34" charset="0"/>
            </a:endParaRPr>
          </a:p>
        </p:txBody>
      </p:sp>
      <p:sp>
        <p:nvSpPr>
          <p:cNvPr id="3" name="Text Placeholder 2">
            <a:extLst>
              <a:ext uri="{FF2B5EF4-FFF2-40B4-BE49-F238E27FC236}">
                <a16:creationId xmlns:a16="http://schemas.microsoft.com/office/drawing/2014/main" id="{99BA684D-C07B-7A99-2D02-46302308AE8F}"/>
              </a:ext>
            </a:extLst>
          </p:cNvPr>
          <p:cNvSpPr>
            <a:spLocks noGrp="1"/>
          </p:cNvSpPr>
          <p:nvPr>
            <p:ph type="body" idx="1"/>
          </p:nvPr>
        </p:nvSpPr>
        <p:spPr>
          <a:xfrm>
            <a:off x="705611" y="1598213"/>
            <a:ext cx="10780775" cy="4905954"/>
          </a:xfrm>
        </p:spPr>
        <p:txBody>
          <a:bodyPr>
            <a:noAutofit/>
          </a:bodyPr>
          <a:lstStyle/>
          <a:p>
            <a:r>
              <a:rPr lang="en-US" sz="2000" dirty="0">
                <a:latin typeface="Bahnschrift SemiLight SemiConde" panose="020B0502040204020203" pitchFamily="34" charset="0"/>
              </a:rPr>
              <a:t>The proposed system is a web-based educational loan platform developed using Python Django, designed to support highly talented, financially underprivileged, and deserving candidates. The platform stands out by integrating an Investor Page, where individuals can invest in students' education, thereby providing them with the necessary funds to pursue their studies.</a:t>
            </a:r>
          </a:p>
          <a:p>
            <a:r>
              <a:rPr lang="en-US" sz="2400" b="1" dirty="0">
                <a:latin typeface="Bahnschrift SemiLight SemiConde" panose="020B0502040204020203" pitchFamily="34" charset="0"/>
              </a:rPr>
              <a:t>Benefits</a:t>
            </a:r>
          </a:p>
          <a:p>
            <a:pPr>
              <a:buFont typeface="Arial" panose="020B0604020202020204" pitchFamily="34" charset="0"/>
              <a:buChar char="•"/>
            </a:pPr>
            <a:r>
              <a:rPr lang="en-US" sz="2000" b="1" dirty="0">
                <a:latin typeface="Bahnschrift SemiLight SemiConde" panose="020B0502040204020203" pitchFamily="34" charset="0"/>
              </a:rPr>
              <a:t> For Students</a:t>
            </a:r>
            <a:r>
              <a:rPr lang="en-US" sz="2000" dirty="0">
                <a:latin typeface="Bahnschrift SemiLight SemiConde" panose="020B0502040204020203" pitchFamily="34" charset="0"/>
              </a:rPr>
              <a:t>: Access to necessary funds for education, alleviation of financial burdens, and the ability to pursue academic and career goals.</a:t>
            </a:r>
          </a:p>
          <a:p>
            <a:pPr>
              <a:buFont typeface="Arial" panose="020B0604020202020204" pitchFamily="34" charset="0"/>
              <a:buChar char="•"/>
            </a:pPr>
            <a:r>
              <a:rPr lang="en-US" sz="2000" b="1" dirty="0">
                <a:latin typeface="Bahnschrift SemiLight SemiConde" panose="020B0502040204020203" pitchFamily="34" charset="0"/>
              </a:rPr>
              <a:t> For Investors</a:t>
            </a:r>
            <a:r>
              <a:rPr lang="en-US" sz="2000" dirty="0">
                <a:latin typeface="Bahnschrift SemiLight SemiConde" panose="020B0502040204020203" pitchFamily="34" charset="0"/>
              </a:rPr>
              <a:t>: Opportunity to earn a steady income through interest, positive public exposure as a benefactor of education, and the satisfaction of contributing to a noble cause.</a:t>
            </a:r>
          </a:p>
          <a:p>
            <a:pPr>
              <a:buFont typeface="Arial" panose="020B0604020202020204" pitchFamily="34" charset="0"/>
              <a:buChar char="•"/>
            </a:pPr>
            <a:r>
              <a:rPr lang="en-US" sz="2000" b="1" dirty="0">
                <a:latin typeface="Bahnschrift SemiLight SemiConde" panose="020B0502040204020203" pitchFamily="34" charset="0"/>
              </a:rPr>
              <a:t> For Society</a:t>
            </a:r>
            <a:r>
              <a:rPr lang="en-US" sz="2000" dirty="0">
                <a:latin typeface="Bahnschrift SemiLight SemiConde" panose="020B0502040204020203" pitchFamily="34" charset="0"/>
              </a:rPr>
              <a:t>: Promotion of education, support for financially disadvantaged students, and fostering a culture of mutual benefit and societal growth.</a:t>
            </a:r>
          </a:p>
        </p:txBody>
      </p:sp>
    </p:spTree>
    <p:extLst>
      <p:ext uri="{BB962C8B-B14F-4D97-AF65-F5344CB8AC3E}">
        <p14:creationId xmlns:p14="http://schemas.microsoft.com/office/powerpoint/2010/main" val="3698917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15C42-21DC-5770-0559-42E53138D523}"/>
              </a:ext>
            </a:extLst>
          </p:cNvPr>
          <p:cNvSpPr>
            <a:spLocks noGrp="1"/>
          </p:cNvSpPr>
          <p:nvPr>
            <p:ph type="title"/>
          </p:nvPr>
        </p:nvSpPr>
        <p:spPr>
          <a:xfrm>
            <a:off x="719328" y="548741"/>
            <a:ext cx="10753343" cy="722376"/>
          </a:xfrm>
        </p:spPr>
        <p:txBody>
          <a:bodyPr>
            <a:normAutofit/>
          </a:bodyPr>
          <a:lstStyle/>
          <a:p>
            <a:pPr algn="ctr"/>
            <a:r>
              <a:rPr lang="en-US" sz="3600" dirty="0">
                <a:latin typeface="Bahnschrift SemiBold" panose="020B0502040204020203" pitchFamily="34" charset="0"/>
              </a:rPr>
              <a:t>Comparison </a:t>
            </a:r>
            <a:endParaRPr lang="en-IN" sz="3600" dirty="0">
              <a:latin typeface="Bahnschrift SemiBold" panose="020B0502040204020203" pitchFamily="34" charset="0"/>
            </a:endParaRPr>
          </a:p>
        </p:txBody>
      </p:sp>
      <p:sp>
        <p:nvSpPr>
          <p:cNvPr id="3" name="Text Placeholder 2">
            <a:extLst>
              <a:ext uri="{FF2B5EF4-FFF2-40B4-BE49-F238E27FC236}">
                <a16:creationId xmlns:a16="http://schemas.microsoft.com/office/drawing/2014/main" id="{172CA024-1192-6A57-6EF5-F8F5BF9AF798}"/>
              </a:ext>
            </a:extLst>
          </p:cNvPr>
          <p:cNvSpPr>
            <a:spLocks noGrp="1"/>
          </p:cNvSpPr>
          <p:nvPr>
            <p:ph type="body" idx="1"/>
          </p:nvPr>
        </p:nvSpPr>
        <p:spPr>
          <a:xfrm>
            <a:off x="1054608" y="1800808"/>
            <a:ext cx="4663440" cy="615269"/>
          </a:xfrm>
        </p:spPr>
        <p:txBody>
          <a:bodyPr>
            <a:normAutofit/>
          </a:bodyPr>
          <a:lstStyle/>
          <a:p>
            <a:pPr algn="ctr"/>
            <a:r>
              <a:rPr lang="en-US" sz="2400" dirty="0">
                <a:solidFill>
                  <a:schemeClr val="accent1"/>
                </a:solidFill>
                <a:latin typeface="Bahnschrift SemiBold" panose="020B0502040204020203" pitchFamily="34" charset="0"/>
              </a:rPr>
              <a:t>Existence System</a:t>
            </a:r>
            <a:endParaRPr lang="en-IN" sz="2400" dirty="0">
              <a:solidFill>
                <a:schemeClr val="accent1"/>
              </a:solidFill>
              <a:latin typeface="Bahnschrift SemiBold" panose="020B0502040204020203" pitchFamily="34" charset="0"/>
            </a:endParaRPr>
          </a:p>
        </p:txBody>
      </p:sp>
      <p:sp>
        <p:nvSpPr>
          <p:cNvPr id="4" name="Content Placeholder 3">
            <a:extLst>
              <a:ext uri="{FF2B5EF4-FFF2-40B4-BE49-F238E27FC236}">
                <a16:creationId xmlns:a16="http://schemas.microsoft.com/office/drawing/2014/main" id="{C0F738BC-2C38-874D-C4D0-D35E2052F0D9}"/>
              </a:ext>
            </a:extLst>
          </p:cNvPr>
          <p:cNvSpPr>
            <a:spLocks noGrp="1"/>
          </p:cNvSpPr>
          <p:nvPr>
            <p:ph sz="half" idx="2"/>
          </p:nvPr>
        </p:nvSpPr>
        <p:spPr>
          <a:xfrm>
            <a:off x="676656" y="2753084"/>
            <a:ext cx="5419344" cy="3698516"/>
          </a:xfrm>
        </p:spPr>
        <p:txBody>
          <a:bodyPr>
            <a:normAutofit/>
          </a:bodyPr>
          <a:lstStyle/>
          <a:p>
            <a:pPr>
              <a:buFont typeface="Wingdings" panose="05000000000000000000" pitchFamily="2" charset="2"/>
              <a:buChar char="Ø"/>
            </a:pPr>
            <a:r>
              <a:rPr lang="en-US" sz="2000" b="1" dirty="0">
                <a:latin typeface="Bahnschrift SemiLight SemiConde" panose="020B0502040204020203" pitchFamily="34" charset="0"/>
              </a:rPr>
              <a:t>Target Audience</a:t>
            </a:r>
            <a:r>
              <a:rPr lang="en-IN" sz="2000" b="1" dirty="0">
                <a:latin typeface="Bahnschrift SemiLight SemiConde" panose="020B0502040204020203" pitchFamily="34" charset="0"/>
              </a:rPr>
              <a:t>:</a:t>
            </a:r>
            <a:r>
              <a:rPr lang="en-US" sz="2000" b="1" dirty="0">
                <a:latin typeface="Bahnschrift SemiLight SemiConde" panose="020B0502040204020203" pitchFamily="34" charset="0"/>
              </a:rPr>
              <a:t> </a:t>
            </a:r>
            <a:r>
              <a:rPr lang="en-US" sz="2000" dirty="0">
                <a:latin typeface="Bahnschrift SemiLight SemiConde" panose="020B0502040204020203" pitchFamily="34" charset="0"/>
              </a:rPr>
              <a:t>Vary from international students, low-income individuals, to small businesses.</a:t>
            </a:r>
          </a:p>
          <a:p>
            <a:pPr>
              <a:buFont typeface="Wingdings" panose="05000000000000000000" pitchFamily="2" charset="2"/>
              <a:buChar char="Ø"/>
            </a:pPr>
            <a:r>
              <a:rPr lang="en-IN" sz="2000" b="1" dirty="0">
                <a:latin typeface="Bahnschrift SemiLight SemiConde" panose="020B0502040204020203" pitchFamily="34" charset="0"/>
              </a:rPr>
              <a:t>Investment Model</a:t>
            </a:r>
            <a:r>
              <a:rPr lang="en-IN" sz="2000" dirty="0">
                <a:latin typeface="Bahnschrift SemiLight SemiConde" panose="020B0502040204020203" pitchFamily="34" charset="0"/>
              </a:rPr>
              <a:t>: </a:t>
            </a:r>
            <a:r>
              <a:rPr lang="en-US" sz="2000" dirty="0">
                <a:latin typeface="Bahnschrift SemiLight SemiConde" panose="020B0502040204020203" pitchFamily="34" charset="0"/>
              </a:rPr>
              <a:t>Mix of community funding, crowdfunding, and institutional investments.</a:t>
            </a:r>
          </a:p>
          <a:p>
            <a:pPr>
              <a:buFont typeface="Wingdings" panose="05000000000000000000" pitchFamily="2" charset="2"/>
              <a:buChar char="Ø"/>
            </a:pPr>
            <a:r>
              <a:rPr lang="en-IN" sz="2000" b="1" dirty="0">
                <a:latin typeface="Bahnschrift SemiLight SemiConde" panose="020B0502040204020203" pitchFamily="34" charset="0"/>
              </a:rPr>
              <a:t>Interest Rate</a:t>
            </a:r>
            <a:r>
              <a:rPr lang="en-IN" sz="2000" dirty="0">
                <a:latin typeface="Bahnschrift SemiLight SemiConde" panose="020B0502040204020203" pitchFamily="34" charset="0"/>
              </a:rPr>
              <a:t>: </a:t>
            </a:r>
            <a:r>
              <a:rPr lang="en-US" sz="2000" dirty="0">
                <a:latin typeface="Bahnschrift SemiLight SemiConde" panose="020B0502040204020203" pitchFamily="34" charset="0"/>
              </a:rPr>
              <a:t>Varies from low/no interest (Kiva) to competitive rates (Prodigy Finance, Funding Circle).</a:t>
            </a:r>
          </a:p>
          <a:p>
            <a:pPr>
              <a:buFont typeface="Wingdings" panose="05000000000000000000" pitchFamily="2" charset="2"/>
              <a:buChar char="Ø"/>
            </a:pPr>
            <a:r>
              <a:rPr lang="en-IN" sz="2000" b="1" dirty="0">
                <a:latin typeface="Bahnschrift SemiLight SemiConde" panose="020B0502040204020203" pitchFamily="34" charset="0"/>
              </a:rPr>
              <a:t>Technology: </a:t>
            </a:r>
            <a:r>
              <a:rPr lang="en-US" sz="2000" dirty="0">
                <a:latin typeface="Bahnschrift SemiLight SemiConde" panose="020B0502040204020203" pitchFamily="34" charset="0"/>
              </a:rPr>
              <a:t>Proprietary platforms with advanced data analytics and AI (Upstart).</a:t>
            </a:r>
            <a:endParaRPr lang="en-US" sz="2000" b="1" dirty="0">
              <a:latin typeface="Bahnschrift SemiLight SemiConde" panose="020B0502040204020203" pitchFamily="34" charset="0"/>
            </a:endParaRPr>
          </a:p>
        </p:txBody>
      </p:sp>
      <p:sp>
        <p:nvSpPr>
          <p:cNvPr id="5" name="Text Placeholder 4">
            <a:extLst>
              <a:ext uri="{FF2B5EF4-FFF2-40B4-BE49-F238E27FC236}">
                <a16:creationId xmlns:a16="http://schemas.microsoft.com/office/drawing/2014/main" id="{404617A3-5FBC-1CC1-DD9B-9098AE1181A1}"/>
              </a:ext>
            </a:extLst>
          </p:cNvPr>
          <p:cNvSpPr>
            <a:spLocks noGrp="1"/>
          </p:cNvSpPr>
          <p:nvPr>
            <p:ph type="body" sz="quarter" idx="3"/>
          </p:nvPr>
        </p:nvSpPr>
        <p:spPr>
          <a:xfrm>
            <a:off x="6431280" y="1800808"/>
            <a:ext cx="4663440" cy="615269"/>
          </a:xfrm>
        </p:spPr>
        <p:txBody>
          <a:bodyPr>
            <a:normAutofit/>
          </a:bodyPr>
          <a:lstStyle/>
          <a:p>
            <a:pPr algn="ctr"/>
            <a:r>
              <a:rPr lang="en-US" sz="2400" dirty="0" err="1">
                <a:solidFill>
                  <a:schemeClr val="accent1"/>
                </a:solidFill>
                <a:latin typeface="Bahnschrift SemiBold" panose="020B0502040204020203" pitchFamily="34" charset="0"/>
              </a:rPr>
              <a:t>Edu.inv</a:t>
            </a:r>
            <a:endParaRPr lang="en-IN" sz="2400" dirty="0">
              <a:solidFill>
                <a:schemeClr val="accent1"/>
              </a:solidFill>
              <a:latin typeface="Bahnschrift SemiBold" panose="020B0502040204020203" pitchFamily="34" charset="0"/>
            </a:endParaRPr>
          </a:p>
        </p:txBody>
      </p:sp>
      <p:sp>
        <p:nvSpPr>
          <p:cNvPr id="6" name="Content Placeholder 5">
            <a:extLst>
              <a:ext uri="{FF2B5EF4-FFF2-40B4-BE49-F238E27FC236}">
                <a16:creationId xmlns:a16="http://schemas.microsoft.com/office/drawing/2014/main" id="{2582DB63-1167-B06E-D645-0DDF81D0DD23}"/>
              </a:ext>
            </a:extLst>
          </p:cNvPr>
          <p:cNvSpPr>
            <a:spLocks noGrp="1"/>
          </p:cNvSpPr>
          <p:nvPr>
            <p:ph sz="quarter" idx="4"/>
          </p:nvPr>
        </p:nvSpPr>
        <p:spPr>
          <a:xfrm>
            <a:off x="6096001" y="2753084"/>
            <a:ext cx="5333998" cy="3698516"/>
          </a:xfrm>
        </p:spPr>
        <p:txBody>
          <a:bodyPr>
            <a:normAutofit/>
          </a:bodyPr>
          <a:lstStyle/>
          <a:p>
            <a:pPr>
              <a:buFont typeface="Wingdings" panose="05000000000000000000" pitchFamily="2" charset="2"/>
              <a:buChar char="Ø"/>
            </a:pPr>
            <a:r>
              <a:rPr lang="en-US" sz="2000" b="1" dirty="0">
                <a:latin typeface="Bahnschrift SemiLight SemiConde" panose="020B0502040204020203" pitchFamily="34" charset="0"/>
              </a:rPr>
              <a:t>Target Audience</a:t>
            </a:r>
            <a:r>
              <a:rPr lang="en-IN" sz="2000" b="1" dirty="0">
                <a:latin typeface="Bahnschrift SemiLight SemiConde" panose="020B0502040204020203" pitchFamily="34" charset="0"/>
              </a:rPr>
              <a:t>: </a:t>
            </a:r>
            <a:r>
              <a:rPr lang="en-US" sz="2000" dirty="0">
                <a:latin typeface="Bahnschrift SemiLight SemiConde" panose="020B0502040204020203" pitchFamily="34" charset="0"/>
              </a:rPr>
              <a:t>Specifically targets talented,   financially underprivileged students.</a:t>
            </a:r>
            <a:endParaRPr lang="en-IN" sz="2000" dirty="0">
              <a:latin typeface="Bahnschrift SemiLight SemiConde" panose="020B0502040204020203" pitchFamily="34" charset="0"/>
            </a:endParaRPr>
          </a:p>
          <a:p>
            <a:pPr>
              <a:buFont typeface="Wingdings" panose="05000000000000000000" pitchFamily="2" charset="2"/>
              <a:buChar char="Ø"/>
            </a:pPr>
            <a:r>
              <a:rPr lang="en-IN" sz="2000" b="1" dirty="0">
                <a:latin typeface="Bahnschrift SemiLight SemiConde" panose="020B0502040204020203" pitchFamily="34" charset="0"/>
              </a:rPr>
              <a:t>Investment Model</a:t>
            </a:r>
            <a:r>
              <a:rPr lang="en-IN" sz="2000" dirty="0">
                <a:latin typeface="Bahnschrift SemiLight SemiConde" panose="020B0502040204020203" pitchFamily="34" charset="0"/>
              </a:rPr>
              <a:t>: </a:t>
            </a:r>
            <a:r>
              <a:rPr lang="en-US" sz="2000" dirty="0">
                <a:latin typeface="Bahnschrift SemiLight SemiConde" panose="020B0502040204020203" pitchFamily="34" charset="0"/>
              </a:rPr>
              <a:t>Direct individual investments in student loans.</a:t>
            </a:r>
          </a:p>
          <a:p>
            <a:pPr>
              <a:buFont typeface="Wingdings" panose="05000000000000000000" pitchFamily="2" charset="2"/>
              <a:buChar char="Ø"/>
            </a:pPr>
            <a:r>
              <a:rPr lang="en-IN" sz="2000" b="1" dirty="0">
                <a:latin typeface="Bahnschrift SemiLight SemiConde" panose="020B0502040204020203" pitchFamily="34" charset="0"/>
              </a:rPr>
              <a:t>Interest Rate</a:t>
            </a:r>
            <a:r>
              <a:rPr lang="en-IN" sz="2000" dirty="0">
                <a:latin typeface="Bahnschrift SemiLight SemiConde" panose="020B0502040204020203" pitchFamily="34" charset="0"/>
              </a:rPr>
              <a:t>: Average market rate for balance.</a:t>
            </a:r>
          </a:p>
          <a:p>
            <a:pPr>
              <a:buFont typeface="Wingdings" panose="05000000000000000000" pitchFamily="2" charset="2"/>
              <a:buChar char="Ø"/>
            </a:pPr>
            <a:r>
              <a:rPr lang="en-IN" sz="2000" b="1" dirty="0">
                <a:latin typeface="Bahnschrift SemiLight SemiConde" panose="020B0502040204020203" pitchFamily="34" charset="0"/>
              </a:rPr>
              <a:t>Technology: </a:t>
            </a:r>
            <a:r>
              <a:rPr lang="en-US" sz="2000" dirty="0">
                <a:latin typeface="Bahnschrift SemiLight SemiConde" panose="020B0502040204020203" pitchFamily="34" charset="0"/>
              </a:rPr>
              <a:t>Modern stack with Python Django, and typical web technologies.</a:t>
            </a:r>
            <a:endParaRPr lang="en-US" sz="2000" b="1" dirty="0">
              <a:latin typeface="Bahnschrift SemiLight SemiConde" panose="020B0502040204020203" pitchFamily="34" charset="0"/>
            </a:endParaRPr>
          </a:p>
        </p:txBody>
      </p:sp>
    </p:spTree>
    <p:extLst>
      <p:ext uri="{BB962C8B-B14F-4D97-AF65-F5344CB8AC3E}">
        <p14:creationId xmlns:p14="http://schemas.microsoft.com/office/powerpoint/2010/main" val="102109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F340B-8AFD-95D7-E55A-399A5DD5619D}"/>
              </a:ext>
            </a:extLst>
          </p:cNvPr>
          <p:cNvSpPr>
            <a:spLocks noGrp="1"/>
          </p:cNvSpPr>
          <p:nvPr>
            <p:ph type="title"/>
          </p:nvPr>
        </p:nvSpPr>
        <p:spPr/>
        <p:txBody>
          <a:bodyPr>
            <a:normAutofit/>
          </a:bodyPr>
          <a:lstStyle/>
          <a:p>
            <a:r>
              <a:rPr lang="en-US" sz="3200" dirty="0">
                <a:solidFill>
                  <a:schemeClr val="bg1"/>
                </a:solidFill>
                <a:latin typeface="Bahnschrift SemiBold" panose="020B0502040204020203" pitchFamily="34" charset="0"/>
              </a:rPr>
              <a:t>DFD</a:t>
            </a:r>
            <a:r>
              <a:rPr lang="en-US" sz="4000" dirty="0">
                <a:solidFill>
                  <a:schemeClr val="bg1"/>
                </a:solidFill>
                <a:latin typeface="Bahnschrift SemiBold" panose="020B0502040204020203" pitchFamily="34" charset="0"/>
              </a:rPr>
              <a:t> 0</a:t>
            </a:r>
            <a:endParaRPr lang="en-IN" sz="4000" dirty="0">
              <a:solidFill>
                <a:schemeClr val="bg1"/>
              </a:solidFill>
              <a:latin typeface="Bahnschrift SemiBold" panose="020B0502040204020203" pitchFamily="34" charset="0"/>
            </a:endParaRPr>
          </a:p>
        </p:txBody>
      </p:sp>
      <p:pic>
        <p:nvPicPr>
          <p:cNvPr id="5" name="Content Placeholder 4">
            <a:extLst>
              <a:ext uri="{FF2B5EF4-FFF2-40B4-BE49-F238E27FC236}">
                <a16:creationId xmlns:a16="http://schemas.microsoft.com/office/drawing/2014/main" id="{6A4758D1-AF00-028D-DB8A-68F074885F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19581" y="2157731"/>
            <a:ext cx="6552838" cy="3448279"/>
          </a:xfrm>
        </p:spPr>
      </p:pic>
    </p:spTree>
    <p:extLst>
      <p:ext uri="{BB962C8B-B14F-4D97-AF65-F5344CB8AC3E}">
        <p14:creationId xmlns:p14="http://schemas.microsoft.com/office/powerpoint/2010/main" val="3929005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C33BE-4D3D-B063-B929-CB018002E528}"/>
              </a:ext>
            </a:extLst>
          </p:cNvPr>
          <p:cNvSpPr>
            <a:spLocks noGrp="1"/>
          </p:cNvSpPr>
          <p:nvPr>
            <p:ph type="title"/>
          </p:nvPr>
        </p:nvSpPr>
        <p:spPr/>
        <p:txBody>
          <a:bodyPr>
            <a:normAutofit/>
          </a:bodyPr>
          <a:lstStyle/>
          <a:p>
            <a:r>
              <a:rPr lang="en-US" sz="3200" dirty="0">
                <a:solidFill>
                  <a:schemeClr val="bg1"/>
                </a:solidFill>
                <a:latin typeface="Bahnschrift SemiBold" panose="020B0502040204020203" pitchFamily="34" charset="0"/>
              </a:rPr>
              <a:t>DFD 1 (Admin)</a:t>
            </a:r>
            <a:endParaRPr lang="en-IN" sz="3200" dirty="0">
              <a:solidFill>
                <a:schemeClr val="bg1"/>
              </a:solidFill>
            </a:endParaRPr>
          </a:p>
        </p:txBody>
      </p:sp>
      <p:pic>
        <p:nvPicPr>
          <p:cNvPr id="5" name="Content Placeholder 4">
            <a:extLst>
              <a:ext uri="{FF2B5EF4-FFF2-40B4-BE49-F238E27FC236}">
                <a16:creationId xmlns:a16="http://schemas.microsoft.com/office/drawing/2014/main" id="{B66F0D13-3539-4E53-05E2-ECA73B5D77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6921" y="1759353"/>
            <a:ext cx="9698157" cy="4490975"/>
          </a:xfrm>
        </p:spPr>
      </p:pic>
    </p:spTree>
    <p:extLst>
      <p:ext uri="{BB962C8B-B14F-4D97-AF65-F5344CB8AC3E}">
        <p14:creationId xmlns:p14="http://schemas.microsoft.com/office/powerpoint/2010/main" val="1772582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1D045-0304-8E18-C3F1-077B51B56B33}"/>
              </a:ext>
            </a:extLst>
          </p:cNvPr>
          <p:cNvSpPr>
            <a:spLocks noGrp="1"/>
          </p:cNvSpPr>
          <p:nvPr>
            <p:ph type="title"/>
          </p:nvPr>
        </p:nvSpPr>
        <p:spPr/>
        <p:txBody>
          <a:bodyPr>
            <a:normAutofit/>
          </a:bodyPr>
          <a:lstStyle/>
          <a:p>
            <a:r>
              <a:rPr lang="en-US" sz="3200" dirty="0">
                <a:solidFill>
                  <a:schemeClr val="bg1"/>
                </a:solidFill>
                <a:latin typeface="Bahnschrift SemiBold" panose="020B0502040204020203" pitchFamily="34" charset="0"/>
              </a:rPr>
              <a:t>DFD</a:t>
            </a:r>
            <a:r>
              <a:rPr lang="en-US" sz="4000" dirty="0">
                <a:latin typeface="Bahnschrift SemiBold" panose="020B0502040204020203" pitchFamily="34" charset="0"/>
              </a:rPr>
              <a:t> </a:t>
            </a:r>
            <a:r>
              <a:rPr lang="en-US" sz="4000" dirty="0">
                <a:solidFill>
                  <a:schemeClr val="bg1"/>
                </a:solidFill>
                <a:latin typeface="Bahnschrift SemiBold" panose="020B0502040204020203" pitchFamily="34" charset="0"/>
              </a:rPr>
              <a:t>1</a:t>
            </a:r>
            <a:r>
              <a:rPr lang="en-US" sz="4000" dirty="0">
                <a:latin typeface="Bahnschrift SemiBold" panose="020B0502040204020203" pitchFamily="34" charset="0"/>
              </a:rPr>
              <a:t>1</a:t>
            </a:r>
            <a:endParaRPr lang="en-IN" sz="4000" dirty="0"/>
          </a:p>
        </p:txBody>
      </p:sp>
      <p:pic>
        <p:nvPicPr>
          <p:cNvPr id="6" name="Content Placeholder 5">
            <a:extLst>
              <a:ext uri="{FF2B5EF4-FFF2-40B4-BE49-F238E27FC236}">
                <a16:creationId xmlns:a16="http://schemas.microsoft.com/office/drawing/2014/main" id="{35414C59-BAA8-E36C-9750-D0ECFBD7529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57224" y="1840376"/>
            <a:ext cx="5604792" cy="4352080"/>
          </a:xfrm>
        </p:spPr>
      </p:pic>
      <p:pic>
        <p:nvPicPr>
          <p:cNvPr id="8" name="Content Placeholder 7">
            <a:extLst>
              <a:ext uri="{FF2B5EF4-FFF2-40B4-BE49-F238E27FC236}">
                <a16:creationId xmlns:a16="http://schemas.microsoft.com/office/drawing/2014/main" id="{CA05CFFE-A4F9-085D-A0EA-D4118A17294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62016" y="1840376"/>
            <a:ext cx="5338668" cy="4352080"/>
          </a:xfrm>
        </p:spPr>
      </p:pic>
    </p:spTree>
    <p:extLst>
      <p:ext uri="{BB962C8B-B14F-4D97-AF65-F5344CB8AC3E}">
        <p14:creationId xmlns:p14="http://schemas.microsoft.com/office/powerpoint/2010/main" val="2051813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08081-6121-D5CD-15B7-C847ABFD78E6}"/>
              </a:ext>
            </a:extLst>
          </p:cNvPr>
          <p:cNvSpPr>
            <a:spLocks noGrp="1"/>
          </p:cNvSpPr>
          <p:nvPr>
            <p:ph type="title"/>
          </p:nvPr>
        </p:nvSpPr>
        <p:spPr/>
        <p:txBody>
          <a:bodyPr>
            <a:normAutofit/>
          </a:bodyPr>
          <a:lstStyle/>
          <a:p>
            <a:r>
              <a:rPr lang="en-US" sz="3200" dirty="0">
                <a:solidFill>
                  <a:schemeClr val="bg1"/>
                </a:solidFill>
                <a:latin typeface="Bahnschrift SemiBold" panose="020B0502040204020203" pitchFamily="34" charset="0"/>
              </a:rPr>
              <a:t>USECASE</a:t>
            </a:r>
            <a:endParaRPr lang="en-IN" sz="3200" dirty="0">
              <a:solidFill>
                <a:schemeClr val="bg1"/>
              </a:solidFill>
              <a:latin typeface="Bahnschrift SemiBold" panose="020B0502040204020203" pitchFamily="34" charset="0"/>
            </a:endParaRPr>
          </a:p>
        </p:txBody>
      </p:sp>
      <p:pic>
        <p:nvPicPr>
          <p:cNvPr id="5" name="Content Placeholder 4">
            <a:extLst>
              <a:ext uri="{FF2B5EF4-FFF2-40B4-BE49-F238E27FC236}">
                <a16:creationId xmlns:a16="http://schemas.microsoft.com/office/drawing/2014/main" id="{BA266B28-A128-A3A9-1A4C-902AE94C2B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30366" y="349091"/>
            <a:ext cx="6011694" cy="6159818"/>
          </a:xfrm>
        </p:spPr>
      </p:pic>
    </p:spTree>
    <p:extLst>
      <p:ext uri="{BB962C8B-B14F-4D97-AF65-F5344CB8AC3E}">
        <p14:creationId xmlns:p14="http://schemas.microsoft.com/office/powerpoint/2010/main" val="2723382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EB914-2CFC-B34D-6511-DE9FD221C1DF}"/>
              </a:ext>
            </a:extLst>
          </p:cNvPr>
          <p:cNvSpPr>
            <a:spLocks noGrp="1"/>
          </p:cNvSpPr>
          <p:nvPr>
            <p:ph type="title"/>
          </p:nvPr>
        </p:nvSpPr>
        <p:spPr>
          <a:xfrm>
            <a:off x="657224" y="190076"/>
            <a:ext cx="10772775" cy="1181524"/>
          </a:xfrm>
        </p:spPr>
        <p:txBody>
          <a:bodyPr>
            <a:normAutofit/>
          </a:bodyPr>
          <a:lstStyle/>
          <a:p>
            <a:r>
              <a:rPr lang="en-US" sz="3200" dirty="0">
                <a:latin typeface="Bahnschrift SemiBold" panose="020B0502040204020203" pitchFamily="34" charset="0"/>
              </a:rPr>
              <a:t>PLATFORM: Full-Stack (Python Django)</a:t>
            </a:r>
            <a:endParaRPr lang="en-IN" sz="3200" dirty="0">
              <a:latin typeface="Bahnschrift SemiBold" panose="020B0502040204020203" pitchFamily="34" charset="0"/>
            </a:endParaRPr>
          </a:p>
        </p:txBody>
      </p:sp>
      <p:sp>
        <p:nvSpPr>
          <p:cNvPr id="3" name="Content Placeholder 2">
            <a:extLst>
              <a:ext uri="{FF2B5EF4-FFF2-40B4-BE49-F238E27FC236}">
                <a16:creationId xmlns:a16="http://schemas.microsoft.com/office/drawing/2014/main" id="{E1CA905F-73B4-AD72-ED61-DD73D991FC8C}"/>
              </a:ext>
            </a:extLst>
          </p:cNvPr>
          <p:cNvSpPr>
            <a:spLocks noGrp="1"/>
          </p:cNvSpPr>
          <p:nvPr>
            <p:ph idx="1"/>
          </p:nvPr>
        </p:nvSpPr>
        <p:spPr>
          <a:xfrm>
            <a:off x="657224" y="1544320"/>
            <a:ext cx="10772775" cy="4978400"/>
          </a:xfrm>
        </p:spPr>
        <p:txBody>
          <a:bodyPr>
            <a:normAutofit/>
          </a:bodyPr>
          <a:lstStyle/>
          <a:p>
            <a:pPr marL="0" indent="0">
              <a:buNone/>
            </a:pPr>
            <a:endParaRPr lang="en-IN" b="1" dirty="0"/>
          </a:p>
          <a:p>
            <a:pPr>
              <a:buFont typeface="+mj-lt"/>
              <a:buAutoNum type="arabicPeriod"/>
            </a:pPr>
            <a:r>
              <a:rPr lang="en-IN" sz="2600" b="1" dirty="0">
                <a:latin typeface="Bahnschrift SemiLight SemiConde" panose="020B0502040204020203" pitchFamily="34" charset="0"/>
              </a:rPr>
              <a:t>Backend </a:t>
            </a:r>
            <a:r>
              <a:rPr lang="en-IN" sz="2600" dirty="0">
                <a:latin typeface="Bahnschrift SemiLight SemiConde" panose="020B0502040204020203" pitchFamily="34" charset="0"/>
              </a:rPr>
              <a:t>: Python Django</a:t>
            </a:r>
            <a:endParaRPr lang="en-IN" sz="2100" dirty="0">
              <a:latin typeface="Bahnschrift SemiLight SemiConde" panose="020B0502040204020203" pitchFamily="34" charset="0"/>
            </a:endParaRPr>
          </a:p>
          <a:p>
            <a:pPr>
              <a:buFont typeface="+mj-lt"/>
              <a:buAutoNum type="arabicPeriod"/>
            </a:pPr>
            <a:r>
              <a:rPr lang="en-IN" sz="2600" b="1" dirty="0">
                <a:latin typeface="Bahnschrift SemiLight SemiConde" panose="020B0502040204020203" pitchFamily="34" charset="0"/>
              </a:rPr>
              <a:t>Frontend</a:t>
            </a:r>
            <a:r>
              <a:rPr lang="en-IN" sz="2600" dirty="0">
                <a:latin typeface="Bahnschrift SemiLight SemiConde" panose="020B0502040204020203" pitchFamily="34" charset="0"/>
              </a:rPr>
              <a:t>:</a:t>
            </a:r>
          </a:p>
          <a:p>
            <a:pPr marL="800100" lvl="1">
              <a:buFont typeface="Arial" panose="020B0604020202020204" pitchFamily="34" charset="0"/>
              <a:buChar char="•"/>
            </a:pPr>
            <a:r>
              <a:rPr lang="en-IN" sz="2100" b="1" dirty="0">
                <a:latin typeface="Bahnschrift SemiLight SemiConde" panose="020B0502040204020203" pitchFamily="34" charset="0"/>
              </a:rPr>
              <a:t>HTML/CSS</a:t>
            </a:r>
            <a:endParaRPr lang="en-IN" sz="2100" dirty="0">
              <a:latin typeface="Bahnschrift SemiLight SemiConde" panose="020B0502040204020203" pitchFamily="34" charset="0"/>
            </a:endParaRPr>
          </a:p>
          <a:p>
            <a:pPr marL="800100" lvl="1">
              <a:buFont typeface="Arial" panose="020B0604020202020204" pitchFamily="34" charset="0"/>
              <a:buChar char="•"/>
            </a:pPr>
            <a:r>
              <a:rPr lang="en-IN" sz="2100" b="1" dirty="0">
                <a:latin typeface="Bahnschrift SemiLight SemiConde" panose="020B0502040204020203" pitchFamily="34" charset="0"/>
              </a:rPr>
              <a:t>JavaScript</a:t>
            </a:r>
          </a:p>
          <a:p>
            <a:pPr marL="800100" lvl="1">
              <a:buFont typeface="Arial" panose="020B0604020202020204" pitchFamily="34" charset="0"/>
              <a:buChar char="•"/>
            </a:pPr>
            <a:r>
              <a:rPr lang="en-IN" sz="2100" b="1" dirty="0">
                <a:latin typeface="Bahnschrift SemiLight SemiConde" panose="020B0502040204020203" pitchFamily="34" charset="0"/>
              </a:rPr>
              <a:t>Templates</a:t>
            </a:r>
            <a:endParaRPr lang="en-IN" sz="2100" dirty="0">
              <a:latin typeface="Bahnschrift SemiLight SemiConde" panose="020B0502040204020203" pitchFamily="34" charset="0"/>
            </a:endParaRPr>
          </a:p>
          <a:p>
            <a:pPr>
              <a:buFont typeface="+mj-lt"/>
              <a:buAutoNum type="arabicPeriod"/>
            </a:pPr>
            <a:r>
              <a:rPr lang="en-IN" sz="2600" b="1" dirty="0">
                <a:latin typeface="Bahnschrift SemiLight SemiConde" panose="020B0502040204020203" pitchFamily="34" charset="0"/>
              </a:rPr>
              <a:t>Database</a:t>
            </a:r>
            <a:r>
              <a:rPr lang="en-IN" sz="2600" dirty="0">
                <a:latin typeface="Bahnschrift SemiLight SemiConde" panose="020B0502040204020203" pitchFamily="34" charset="0"/>
              </a:rPr>
              <a:t>:</a:t>
            </a:r>
          </a:p>
          <a:p>
            <a:pPr marL="800100" lvl="1">
              <a:buFont typeface="Arial" panose="020B0604020202020204" pitchFamily="34" charset="0"/>
              <a:buChar char="•"/>
            </a:pPr>
            <a:r>
              <a:rPr lang="en-IN" sz="2100" b="1" dirty="0">
                <a:latin typeface="Bahnschrift SemiLight SemiConde" panose="020B0502040204020203" pitchFamily="34" charset="0"/>
              </a:rPr>
              <a:t>SQLite</a:t>
            </a:r>
            <a:endParaRPr lang="en-IN" sz="2100" dirty="0">
              <a:latin typeface="Bahnschrift SemiLight SemiConde" panose="020B0502040204020203" pitchFamily="34" charset="0"/>
            </a:endParaRPr>
          </a:p>
          <a:p>
            <a:pPr>
              <a:buFont typeface="+mj-lt"/>
              <a:buAutoNum type="arabicPeriod"/>
            </a:pPr>
            <a:r>
              <a:rPr lang="en-IN" sz="2600" b="1" dirty="0">
                <a:latin typeface="Bahnschrift SemiLight SemiConde" panose="020B0502040204020203" pitchFamily="34" charset="0"/>
              </a:rPr>
              <a:t>Hosting</a:t>
            </a:r>
            <a:r>
              <a:rPr lang="en-IN" sz="2600" dirty="0">
                <a:latin typeface="Bahnschrift SemiLight SemiConde" panose="020B0502040204020203" pitchFamily="34" charset="0"/>
              </a:rPr>
              <a:t>:</a:t>
            </a:r>
          </a:p>
          <a:p>
            <a:pPr marL="800100" lvl="1">
              <a:buFont typeface="Arial" panose="020B0604020202020204" pitchFamily="34" charset="0"/>
              <a:buChar char="•"/>
            </a:pPr>
            <a:r>
              <a:rPr lang="en-IN" sz="2100" b="1" dirty="0">
                <a:latin typeface="Bahnschrift SemiLight SemiConde" panose="020B0502040204020203" pitchFamily="34" charset="0"/>
              </a:rPr>
              <a:t>AWS</a:t>
            </a:r>
            <a:endParaRPr lang="en-IN" dirty="0"/>
          </a:p>
        </p:txBody>
      </p:sp>
    </p:spTree>
    <p:extLst>
      <p:ext uri="{BB962C8B-B14F-4D97-AF65-F5344CB8AC3E}">
        <p14:creationId xmlns:p14="http://schemas.microsoft.com/office/powerpoint/2010/main" val="3809420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DFB01-340B-DE9E-7DF5-46A3E8DACAC4}"/>
              </a:ext>
            </a:extLst>
          </p:cNvPr>
          <p:cNvSpPr>
            <a:spLocks noGrp="1"/>
          </p:cNvSpPr>
          <p:nvPr>
            <p:ph type="title"/>
          </p:nvPr>
        </p:nvSpPr>
        <p:spPr>
          <a:xfrm>
            <a:off x="657224" y="499533"/>
            <a:ext cx="10772775" cy="693163"/>
          </a:xfrm>
        </p:spPr>
        <p:txBody>
          <a:bodyPr>
            <a:normAutofit/>
          </a:bodyPr>
          <a:lstStyle/>
          <a:p>
            <a:r>
              <a:rPr lang="en-US" sz="3200" dirty="0">
                <a:latin typeface="Bahnschrift SemiBold" panose="020B0502040204020203" pitchFamily="34" charset="0"/>
              </a:rPr>
              <a:t>REFERENCES </a:t>
            </a:r>
            <a:endParaRPr lang="en-IN" sz="3200" dirty="0">
              <a:latin typeface="Bahnschrift SemiBold" panose="020B0502040204020203" pitchFamily="34" charset="0"/>
            </a:endParaRPr>
          </a:p>
        </p:txBody>
      </p:sp>
      <p:sp>
        <p:nvSpPr>
          <p:cNvPr id="4" name="Rectangle 1">
            <a:extLst>
              <a:ext uri="{FF2B5EF4-FFF2-40B4-BE49-F238E27FC236}">
                <a16:creationId xmlns:a16="http://schemas.microsoft.com/office/drawing/2014/main" id="{0EBBFA00-B025-0D5B-03FF-E8243D4B1B7A}"/>
              </a:ext>
            </a:extLst>
          </p:cNvPr>
          <p:cNvSpPr>
            <a:spLocks noGrp="1" noChangeArrowheads="1"/>
          </p:cNvSpPr>
          <p:nvPr>
            <p:ph idx="1"/>
          </p:nvPr>
        </p:nvSpPr>
        <p:spPr bwMode="auto">
          <a:xfrm>
            <a:off x="657224" y="1192696"/>
            <a:ext cx="10772775" cy="572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Bahnschrift SemiLight SemiConde" panose="020B0502040204020203" pitchFamily="34" charset="0"/>
              </a:rPr>
              <a:t>Django Official Documentation</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URL: </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hlinkClick r:id="rId2"/>
              </a:rPr>
              <a:t>https://docs.djangoproject.com/</a:t>
            </a:r>
            <a:endParaRPr kumimoji="0" lang="en-US" altLang="en-US" sz="1400" b="0" i="0" u="none" strike="noStrike" cap="none" normalizeH="0" baseline="0" dirty="0">
              <a:ln>
                <a:noFill/>
              </a:ln>
              <a:solidFill>
                <a:schemeClr val="tx1"/>
              </a:solidFill>
              <a:effectLst/>
              <a:latin typeface="Bahnschrift SemiLight SemiConde" panose="020B05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Description: Comprehensive guide and reference for Django features, modules, and best practices.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Bahnschrift SemiLight SemiConde" panose="020B0502040204020203" pitchFamily="34" charset="0"/>
              </a:rPr>
              <a:t>Prodigy Finance</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URL: </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hlinkClick r:id="rId3"/>
              </a:rPr>
              <a:t>https://prodigyfinance.com/</a:t>
            </a:r>
            <a:endParaRPr kumimoji="0" lang="en-US" altLang="en-US" sz="1400" b="0" i="0" u="none" strike="noStrike" cap="none" normalizeH="0" baseline="0" dirty="0">
              <a:ln>
                <a:noFill/>
              </a:ln>
              <a:solidFill>
                <a:schemeClr val="tx1"/>
              </a:solidFill>
              <a:effectLst/>
              <a:latin typeface="Bahnschrift SemiLight SemiConde" panose="020B05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Description: An international loan provider for postgraduate students, funded by a community of alumni and institutional investors.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Bahnschrift SemiLight SemiConde" panose="020B0502040204020203" pitchFamily="34" charset="0"/>
              </a:rPr>
              <a:t>Kiva</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URL: </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hlinkClick r:id="rId4"/>
              </a:rPr>
              <a:t>https://www.kiva.org/</a:t>
            </a:r>
            <a:endParaRPr kumimoji="0" lang="en-US" altLang="en-US" sz="1400" b="0" i="0" u="none" strike="noStrike" cap="none" normalizeH="0" baseline="0" dirty="0">
              <a:ln>
                <a:noFill/>
              </a:ln>
              <a:solidFill>
                <a:schemeClr val="tx1"/>
              </a:solidFill>
              <a:effectLst/>
              <a:latin typeface="Bahnschrift SemiLight SemiConde" panose="020B05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Description: A micro-lending platform connecting low-income entrepreneurs and students with individual lenders worldwide.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Bahnschrift SemiLight SemiConde" panose="020B0502040204020203" pitchFamily="34" charset="0"/>
              </a:rPr>
              <a:t>Funding Circle</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URL: </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hlinkClick r:id="rId5"/>
              </a:rPr>
              <a:t>https://www.fundingcircle.com/</a:t>
            </a:r>
            <a:endParaRPr kumimoji="0" lang="en-US" altLang="en-US" sz="1400" b="0" i="0" u="none" strike="noStrike" cap="none" normalizeH="0" baseline="0" dirty="0">
              <a:ln>
                <a:noFill/>
              </a:ln>
              <a:solidFill>
                <a:schemeClr val="tx1"/>
              </a:solidFill>
              <a:effectLst/>
              <a:latin typeface="Bahnschrift SemiLight SemiConde" panose="020B05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Description: A peer-to-peer lending marketplace where investors lend directly to small businesses.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Bahnschrift SemiLight SemiConde" panose="020B0502040204020203" pitchFamily="34" charset="0"/>
              </a:rPr>
              <a:t>Upstart</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URL: </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hlinkClick r:id="rId6"/>
              </a:rPr>
              <a:t>https://www.upstart.com/</a:t>
            </a:r>
            <a:endParaRPr kumimoji="0" lang="en-US" altLang="en-US" sz="1400" b="0" i="0" u="none" strike="noStrike" cap="none" normalizeH="0" baseline="0" dirty="0">
              <a:ln>
                <a:noFill/>
              </a:ln>
              <a:solidFill>
                <a:schemeClr val="tx1"/>
              </a:solidFill>
              <a:effectLst/>
              <a:latin typeface="Bahnschrift SemiLight SemiConde" panose="020B05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Description: A lending platform using AI to assess creditworthiness and offer personal loans, including for education.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Bahnschrift SemiLight SemiConde" panose="020B0502040204020203" pitchFamily="34" charset="0"/>
              </a:rPr>
              <a:t>CommonBond</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URL: </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hlinkClick r:id="rId7"/>
              </a:rPr>
              <a:t>https://www.commonbond.co/</a:t>
            </a:r>
            <a:endParaRPr kumimoji="0" lang="en-US" altLang="en-US" sz="1400" b="0" i="0" u="none" strike="noStrike" cap="none" normalizeH="0" baseline="0" dirty="0">
              <a:ln>
                <a:noFill/>
              </a:ln>
              <a:solidFill>
                <a:schemeClr val="tx1"/>
              </a:solidFill>
              <a:effectLst/>
              <a:latin typeface="Bahnschrift SemiLight SemiConde" panose="020B05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Description: Provides student loans and refinancing options, focusing on community and social impact.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Bahnschrift SemiLight SemiConde" panose="020B0502040204020203" pitchFamily="34" charset="0"/>
              </a:rPr>
              <a:t>AWS Hosting for Django</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a:t>
            </a:r>
          </a:p>
          <a:p>
            <a:pPr eaLnBrk="0" fontAlgn="base" hangingPunct="0">
              <a:lnSpc>
                <a:spcPct val="100000"/>
              </a:lnSpc>
              <a:spcBef>
                <a:spcPct val="0"/>
              </a:spcBef>
              <a:spcAft>
                <a:spcPct val="0"/>
              </a:spcAft>
              <a:buFont typeface="Wingdings" panose="05000000000000000000" pitchFamily="2" charset="2"/>
              <a:buChar char="Ø"/>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URL: </a:t>
            </a:r>
            <a:r>
              <a:rPr kumimoji="0" lang="en-US" altLang="en-US" sz="1400" b="0" i="0" u="none" strike="noStrike" cap="none" normalizeH="0" baseline="0" dirty="0">
                <a:ln>
                  <a:noFill/>
                </a:ln>
                <a:solidFill>
                  <a:schemeClr val="tx1"/>
                </a:solidFill>
                <a:effectLst/>
                <a:latin typeface="Bahnschrift SemiLight SemiConde" panose="020B0502040204020203" pitchFamily="34" charset="0"/>
                <a:hlinkClick r:id="rId8"/>
              </a:rPr>
              <a:t>https://aws.amazon.com/django/</a:t>
            </a:r>
            <a:endParaRPr kumimoji="0" lang="en-US" altLang="en-US" sz="1400" b="0" i="0" u="none" strike="noStrike" cap="none" normalizeH="0" baseline="0" dirty="0">
              <a:ln>
                <a:noFill/>
              </a:ln>
              <a:solidFill>
                <a:schemeClr val="tx1"/>
              </a:solidFill>
              <a:effectLst/>
              <a:latin typeface="Bahnschrift SemiLight SemiConde" panose="020B0502040204020203" pitchFamily="34" charset="0"/>
            </a:endParaRPr>
          </a:p>
          <a:p>
            <a:pPr eaLnBrk="0" fontAlgn="base" hangingPunct="0">
              <a:lnSpc>
                <a:spcPct val="100000"/>
              </a:lnSpc>
              <a:spcBef>
                <a:spcPct val="0"/>
              </a:spcBef>
              <a:spcAft>
                <a:spcPct val="0"/>
              </a:spcAft>
              <a:buFont typeface="Wingdings" panose="05000000000000000000" pitchFamily="2" charset="2"/>
              <a:buChar char="Ø"/>
            </a:pPr>
            <a:r>
              <a:rPr kumimoji="0" lang="en-US" altLang="en-US" sz="1400" b="0" i="0" u="none" strike="noStrike" cap="none" normalizeH="0" baseline="0" dirty="0">
                <a:ln>
                  <a:noFill/>
                </a:ln>
                <a:solidFill>
                  <a:schemeClr val="tx1"/>
                </a:solidFill>
                <a:effectLst/>
                <a:latin typeface="Bahnschrift SemiLight SemiConde" panose="020B0502040204020203" pitchFamily="34" charset="0"/>
              </a:rPr>
              <a:t>Description: AWS services and best practices for deploying and managing Django applications.</a:t>
            </a:r>
            <a:endParaRPr lang="en-US" altLang="en-US" sz="1400" dirty="0">
              <a:solidFill>
                <a:schemeClr val="tx1"/>
              </a:solidFill>
              <a:latin typeface="Bahnschrift SemiLight SemiConde" panose="020B0502040204020203" pitchFamily="34" charset="0"/>
            </a:endParaRPr>
          </a:p>
          <a:p>
            <a:pPr eaLnBrk="0" fontAlgn="base" hangingPunct="0">
              <a:lnSpc>
                <a:spcPct val="100000"/>
              </a:lnSpc>
              <a:spcBef>
                <a:spcPct val="0"/>
              </a:spcBef>
              <a:spcAft>
                <a:spcPct val="0"/>
              </a:spcAft>
              <a:buFont typeface="Arial" panose="020B0604020202020204" pitchFamily="34" charset="0"/>
              <a:buChar char="•"/>
            </a:pPr>
            <a:r>
              <a:rPr lang="en-US" sz="1400" b="1" dirty="0">
                <a:latin typeface="Bahnschrift SemiLight SemiConde" panose="020B0502040204020203" pitchFamily="34" charset="0"/>
              </a:rPr>
              <a:t>Django Packages</a:t>
            </a:r>
            <a:r>
              <a:rPr lang="en-US" sz="1400" dirty="0">
                <a:latin typeface="Bahnschrift SemiLight SemiConde" panose="020B0502040204020203" pitchFamily="34" charset="0"/>
              </a:rPr>
              <a:t>:</a:t>
            </a:r>
          </a:p>
          <a:p>
            <a:pPr eaLnBrk="0" fontAlgn="base" hangingPunct="0">
              <a:lnSpc>
                <a:spcPct val="100000"/>
              </a:lnSpc>
              <a:spcBef>
                <a:spcPct val="0"/>
              </a:spcBef>
              <a:spcAft>
                <a:spcPct val="0"/>
              </a:spcAft>
              <a:buFont typeface="Wingdings" panose="05000000000000000000" pitchFamily="2" charset="2"/>
              <a:buChar char="Ø"/>
            </a:pPr>
            <a:r>
              <a:rPr lang="en-US" sz="1400" dirty="0">
                <a:latin typeface="Bahnschrift SemiLight SemiConde" panose="020B0502040204020203" pitchFamily="34" charset="0"/>
              </a:rPr>
              <a:t>URL: </a:t>
            </a:r>
            <a:r>
              <a:rPr lang="en-US" sz="1400" dirty="0">
                <a:latin typeface="Bahnschrift SemiLight SemiConde" panose="020B0502040204020203" pitchFamily="34" charset="0"/>
                <a:hlinkClick r:id="rId9"/>
              </a:rPr>
              <a:t>https://djangopackages.org/</a:t>
            </a:r>
            <a:endParaRPr lang="en-US" sz="1400" dirty="0">
              <a:latin typeface="Bahnschrift SemiLight SemiConde" panose="020B0502040204020203" pitchFamily="34" charset="0"/>
            </a:endParaRPr>
          </a:p>
          <a:p>
            <a:pPr eaLnBrk="0" fontAlgn="base" hangingPunct="0">
              <a:lnSpc>
                <a:spcPct val="100000"/>
              </a:lnSpc>
              <a:spcBef>
                <a:spcPct val="0"/>
              </a:spcBef>
              <a:spcAft>
                <a:spcPct val="0"/>
              </a:spcAft>
              <a:buFont typeface="Wingdings" panose="05000000000000000000" pitchFamily="2" charset="2"/>
              <a:buChar char="Ø"/>
            </a:pPr>
            <a:r>
              <a:rPr lang="en-US" sz="1400" dirty="0">
                <a:latin typeface="Bahnschrift SemiLight SemiConde" panose="020B0502040204020203" pitchFamily="34" charset="0"/>
              </a:rPr>
              <a:t>Description: A directory of reusable Django applications, integrations, and tools contributed by the Django community.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Bahnschrift SemiLight SemiConde"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Bahnschrift SemiLight SemiConde" panose="020B0502040204020203" pitchFamily="34" charset="0"/>
            </a:endParaRPr>
          </a:p>
        </p:txBody>
      </p:sp>
    </p:spTree>
    <p:extLst>
      <p:ext uri="{BB962C8B-B14F-4D97-AF65-F5344CB8AC3E}">
        <p14:creationId xmlns:p14="http://schemas.microsoft.com/office/powerpoint/2010/main" val="4026326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BBAE6-46C2-2034-9406-A3C25A1A7663}"/>
              </a:ext>
            </a:extLst>
          </p:cNvPr>
          <p:cNvSpPr>
            <a:spLocks noGrp="1"/>
          </p:cNvSpPr>
          <p:nvPr>
            <p:ph type="ctrTitle"/>
          </p:nvPr>
        </p:nvSpPr>
        <p:spPr>
          <a:xfrm>
            <a:off x="998816" y="2805817"/>
            <a:ext cx="10194367" cy="1246366"/>
          </a:xfrm>
        </p:spPr>
        <p:txBody>
          <a:bodyPr/>
          <a:lstStyle/>
          <a:p>
            <a:pPr algn="ctr"/>
            <a:r>
              <a:rPr lang="en-US" u="sng" dirty="0">
                <a:latin typeface="Bauhaus 93" panose="04030905020B02020C02" pitchFamily="82" charset="0"/>
              </a:rPr>
              <a:t>Thank You</a:t>
            </a:r>
            <a:endParaRPr lang="en-IN" u="sng" dirty="0">
              <a:latin typeface="Bauhaus 93" panose="04030905020B02020C02" pitchFamily="82" charset="0"/>
            </a:endParaRPr>
          </a:p>
        </p:txBody>
      </p:sp>
    </p:spTree>
    <p:extLst>
      <p:ext uri="{BB962C8B-B14F-4D97-AF65-F5344CB8AC3E}">
        <p14:creationId xmlns:p14="http://schemas.microsoft.com/office/powerpoint/2010/main" val="2247238199"/>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0941A018-FB9B-4401-A32C-7E04526866E0}"/>
    </a:ext>
  </a:extLst>
</a:theme>
</file>

<file path=docProps/app.xml><?xml version="1.0" encoding="utf-8"?>
<Properties xmlns="http://schemas.openxmlformats.org/officeDocument/2006/extended-properties" xmlns:vt="http://schemas.openxmlformats.org/officeDocument/2006/docPropsVTypes">
  <Template>TM03457491[[fn=Metropolitan]]</Template>
  <TotalTime>586</TotalTime>
  <Words>901</Words>
  <Application>Microsoft Office PowerPoint</Application>
  <PresentationFormat>Widescreen</PresentationFormat>
  <Paragraphs>76</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Bahnschrift SemiBold</vt:lpstr>
      <vt:lpstr>Bahnschrift SemiLight SemiConde</vt:lpstr>
      <vt:lpstr>Bauhaus 93</vt:lpstr>
      <vt:lpstr>Calibri Light</vt:lpstr>
      <vt:lpstr>Century Gothic</vt:lpstr>
      <vt:lpstr>Wingdings</vt:lpstr>
      <vt:lpstr>Metropolitan</vt:lpstr>
      <vt:lpstr>Edu.Inv</vt:lpstr>
      <vt:lpstr>INTRODUCTION</vt:lpstr>
      <vt:lpstr>Existence System</vt:lpstr>
      <vt:lpstr>Proposed System</vt:lpstr>
      <vt:lpstr>Comparison </vt:lpstr>
      <vt:lpstr>DFD 0</vt:lpstr>
      <vt:lpstr>DFD 1 (Admin)</vt:lpstr>
      <vt:lpstr>DFD 11</vt:lpstr>
      <vt:lpstr>USECASE</vt:lpstr>
      <vt:lpstr>PLATFORM: Full-Stack (Python Django)</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alwin george</dc:creator>
  <cp:lastModifiedBy>alwin george</cp:lastModifiedBy>
  <cp:revision>6</cp:revision>
  <dcterms:created xsi:type="dcterms:W3CDTF">2024-07-19T17:03:35Z</dcterms:created>
  <dcterms:modified xsi:type="dcterms:W3CDTF">2024-10-27T19:09:35Z</dcterms:modified>
</cp:coreProperties>
</file>